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474" y="-2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Problem–Solution Fit Canvas – PlantCare AI</a:t>
            </a:r>
          </a:p>
          <a:p>
            <a:pPr>
              <a:defRPr sz="1800"/>
            </a:pPr>
            <a:r>
              <a:t>Advanced Plant Disease Detection Using Transfer Learning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097280"/>
            <a:ext cx="3657600" cy="2011680"/>
          </a:xfrm>
          <a:prstGeom prst="rect">
            <a:avLst/>
          </a:prstGeom>
          <a:solidFill>
            <a:srgbClr val="FFB6C1"/>
          </a:solidFill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rPr dirty="0">
                <a:solidFill>
                  <a:srgbClr val="FF0000"/>
                </a:solidFill>
              </a:rPr>
              <a:t>Customer Segments</a:t>
            </a:r>
          </a:p>
          <a:p>
            <a:pPr>
              <a:defRPr sz="1200"/>
            </a:pPr>
            <a:r>
              <a:rPr dirty="0">
                <a:solidFill>
                  <a:srgbClr val="FF0000"/>
                </a:solidFill>
              </a:rPr>
              <a:t>• Farmers</a:t>
            </a:r>
            <a:br>
              <a:rPr dirty="0">
                <a:solidFill>
                  <a:srgbClr val="FF0000"/>
                </a:solidFill>
              </a:rPr>
            </a:br>
            <a:r>
              <a:rPr dirty="0">
                <a:solidFill>
                  <a:srgbClr val="FF0000"/>
                </a:solidFill>
              </a:rPr>
              <a:t>• Home gardeners</a:t>
            </a:r>
            <a:br>
              <a:rPr dirty="0">
                <a:solidFill>
                  <a:srgbClr val="FF0000"/>
                </a:solidFill>
              </a:rPr>
            </a:br>
            <a:r>
              <a:rPr dirty="0">
                <a:solidFill>
                  <a:srgbClr val="FF0000"/>
                </a:solidFill>
              </a:rPr>
              <a:t>• Agricultural researchers</a:t>
            </a:r>
            <a:br>
              <a:rPr dirty="0">
                <a:solidFill>
                  <a:srgbClr val="FF0000"/>
                </a:solidFill>
              </a:rPr>
            </a:br>
            <a:r>
              <a:rPr dirty="0">
                <a:solidFill>
                  <a:srgbClr val="FF0000"/>
                </a:solidFill>
              </a:rPr>
              <a:t>• Nursery owners</a:t>
            </a:r>
            <a:br>
              <a:rPr dirty="0">
                <a:solidFill>
                  <a:srgbClr val="FF0000"/>
                </a:solidFill>
              </a:rPr>
            </a:br>
            <a:r>
              <a:rPr dirty="0">
                <a:solidFill>
                  <a:srgbClr val="FF0000"/>
                </a:solidFill>
              </a:rPr>
              <a:t>• </a:t>
            </a:r>
            <a:r>
              <a:rPr dirty="0" err="1">
                <a:solidFill>
                  <a:srgbClr val="FF0000"/>
                </a:solidFill>
              </a:rPr>
              <a:t>Agri</a:t>
            </a:r>
            <a:r>
              <a:rPr dirty="0">
                <a:solidFill>
                  <a:srgbClr val="FF0000"/>
                </a:solidFill>
              </a:rPr>
              <a:t>‑tech companies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206240" y="1097280"/>
            <a:ext cx="3657600" cy="2011680"/>
          </a:xfrm>
          <a:prstGeom prst="rect">
            <a:avLst/>
          </a:prstGeom>
          <a:solidFill>
            <a:srgbClr val="C8C8FF"/>
          </a:solidFill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rPr dirty="0">
                <a:solidFill>
                  <a:srgbClr val="FF0000"/>
                </a:solidFill>
              </a:rPr>
              <a:t>Customer Constraints</a:t>
            </a:r>
          </a:p>
          <a:p>
            <a:pPr>
              <a:defRPr sz="1200"/>
            </a:pPr>
            <a:r>
              <a:rPr dirty="0">
                <a:solidFill>
                  <a:srgbClr val="FF0000"/>
                </a:solidFill>
              </a:rPr>
              <a:t>• Lack of plant disease knowledge</a:t>
            </a:r>
            <a:br>
              <a:rPr dirty="0">
                <a:solidFill>
                  <a:srgbClr val="FF0000"/>
                </a:solidFill>
              </a:rPr>
            </a:br>
            <a:r>
              <a:rPr dirty="0">
                <a:solidFill>
                  <a:srgbClr val="FF0000"/>
                </a:solidFill>
              </a:rPr>
              <a:t>• Limited access to experts</a:t>
            </a:r>
            <a:br>
              <a:rPr dirty="0">
                <a:solidFill>
                  <a:srgbClr val="FF0000"/>
                </a:solidFill>
              </a:rPr>
            </a:br>
            <a:r>
              <a:rPr dirty="0">
                <a:solidFill>
                  <a:srgbClr val="FF0000"/>
                </a:solidFill>
              </a:rPr>
              <a:t>• Time-consuming manual inspection</a:t>
            </a:r>
            <a:br>
              <a:rPr dirty="0">
                <a:solidFill>
                  <a:srgbClr val="FF0000"/>
                </a:solidFill>
              </a:rPr>
            </a:br>
            <a:r>
              <a:rPr dirty="0">
                <a:solidFill>
                  <a:srgbClr val="FF0000"/>
                </a:solidFill>
              </a:rPr>
              <a:t>• Cost of agricultural consultation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138160" y="1097280"/>
            <a:ext cx="3657600" cy="2011680"/>
          </a:xfrm>
          <a:prstGeom prst="rect">
            <a:avLst/>
          </a:prstGeom>
          <a:solidFill>
            <a:srgbClr val="FFDCB4"/>
          </a:solidFill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rPr dirty="0">
                <a:solidFill>
                  <a:srgbClr val="FF0000"/>
                </a:solidFill>
              </a:rPr>
              <a:t>Available Solutions</a:t>
            </a:r>
          </a:p>
          <a:p>
            <a:pPr>
              <a:defRPr sz="1200"/>
            </a:pPr>
            <a:r>
              <a:rPr dirty="0">
                <a:solidFill>
                  <a:srgbClr val="FF0000"/>
                </a:solidFill>
              </a:rPr>
              <a:t>• Manual plant inspection</a:t>
            </a:r>
            <a:br>
              <a:rPr dirty="0">
                <a:solidFill>
                  <a:srgbClr val="FF0000"/>
                </a:solidFill>
              </a:rPr>
            </a:br>
            <a:r>
              <a:rPr dirty="0">
                <a:solidFill>
                  <a:srgbClr val="FF0000"/>
                </a:solidFill>
              </a:rPr>
              <a:t>• Agricultural experts</a:t>
            </a:r>
            <a:br>
              <a:rPr dirty="0">
                <a:solidFill>
                  <a:srgbClr val="FF0000"/>
                </a:solidFill>
              </a:rPr>
            </a:br>
            <a:r>
              <a:rPr dirty="0">
                <a:solidFill>
                  <a:srgbClr val="FF0000"/>
                </a:solidFill>
              </a:rPr>
              <a:t>• Basic plant disease apps</a:t>
            </a:r>
            <a:br>
              <a:rPr dirty="0">
                <a:solidFill>
                  <a:srgbClr val="FF0000"/>
                </a:solidFill>
              </a:rPr>
            </a:br>
            <a:r>
              <a:rPr dirty="0">
                <a:solidFill>
                  <a:srgbClr val="FF0000"/>
                </a:solidFill>
              </a:rPr>
              <a:t>• Internet search</a:t>
            </a:r>
            <a:br>
              <a:rPr dirty="0">
                <a:solidFill>
                  <a:srgbClr val="FF0000"/>
                </a:solidFill>
              </a:rPr>
            </a:br>
            <a:r>
              <a:rPr dirty="0">
                <a:solidFill>
                  <a:srgbClr val="FF0000"/>
                </a:solidFill>
              </a:rPr>
              <a:t>Limitations: slow, inaccurate, not scalable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3291840"/>
            <a:ext cx="3657600" cy="2011680"/>
          </a:xfrm>
          <a:prstGeom prst="rect">
            <a:avLst/>
          </a:prstGeom>
          <a:solidFill>
            <a:srgbClr val="B4FFC8"/>
          </a:solidFill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rPr dirty="0">
                <a:solidFill>
                  <a:srgbClr val="FF0000"/>
                </a:solidFill>
              </a:rPr>
              <a:t>Jobs-to-Be-Done</a:t>
            </a:r>
          </a:p>
          <a:p>
            <a:pPr>
              <a:defRPr sz="1200"/>
            </a:pPr>
            <a:r>
              <a:rPr dirty="0">
                <a:solidFill>
                  <a:srgbClr val="FF0000"/>
                </a:solidFill>
              </a:rPr>
              <a:t>• Identify plant diseases quickly</a:t>
            </a:r>
            <a:br>
              <a:rPr dirty="0">
                <a:solidFill>
                  <a:srgbClr val="FF0000"/>
                </a:solidFill>
              </a:rPr>
            </a:br>
            <a:r>
              <a:rPr dirty="0">
                <a:solidFill>
                  <a:srgbClr val="FF0000"/>
                </a:solidFill>
              </a:rPr>
              <a:t>• Protect crops from damage</a:t>
            </a:r>
            <a:br>
              <a:rPr dirty="0">
                <a:solidFill>
                  <a:srgbClr val="FF0000"/>
                </a:solidFill>
              </a:rPr>
            </a:br>
            <a:r>
              <a:rPr dirty="0">
                <a:solidFill>
                  <a:srgbClr val="FF0000"/>
                </a:solidFill>
              </a:rPr>
              <a:t>• Improve crop yield</a:t>
            </a:r>
            <a:br>
              <a:rPr dirty="0">
                <a:solidFill>
                  <a:srgbClr val="FF0000"/>
                </a:solidFill>
              </a:rPr>
            </a:br>
            <a:r>
              <a:rPr dirty="0">
                <a:solidFill>
                  <a:srgbClr val="FF0000"/>
                </a:solidFill>
              </a:rPr>
              <a:t>• Get reliable diagnosis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3291840"/>
            <a:ext cx="3657600" cy="2011680"/>
          </a:xfrm>
          <a:prstGeom prst="rect">
            <a:avLst/>
          </a:prstGeom>
          <a:solidFill>
            <a:srgbClr val="FFC8C8"/>
          </a:solidFill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rPr dirty="0">
                <a:solidFill>
                  <a:srgbClr val="FF0000"/>
                </a:solidFill>
              </a:rPr>
              <a:t>Problem Root Cause</a:t>
            </a:r>
          </a:p>
          <a:p>
            <a:pPr>
              <a:defRPr sz="1200"/>
            </a:pPr>
            <a:r>
              <a:rPr dirty="0">
                <a:solidFill>
                  <a:srgbClr val="FF0000"/>
                </a:solidFill>
              </a:rPr>
              <a:t>• Lack of early disease detection</a:t>
            </a:r>
            <a:br>
              <a:rPr dirty="0">
                <a:solidFill>
                  <a:srgbClr val="FF0000"/>
                </a:solidFill>
              </a:rPr>
            </a:br>
            <a:r>
              <a:rPr dirty="0">
                <a:solidFill>
                  <a:srgbClr val="FF0000"/>
                </a:solidFill>
              </a:rPr>
              <a:t>• Similar symptoms across diseases</a:t>
            </a:r>
            <a:br>
              <a:rPr dirty="0">
                <a:solidFill>
                  <a:srgbClr val="FF0000"/>
                </a:solidFill>
              </a:rPr>
            </a:br>
            <a:r>
              <a:rPr dirty="0">
                <a:solidFill>
                  <a:srgbClr val="FF0000"/>
                </a:solidFill>
              </a:rPr>
              <a:t>• Limited agricultural awareness</a:t>
            </a:r>
            <a:br>
              <a:rPr dirty="0">
                <a:solidFill>
                  <a:srgbClr val="FF0000"/>
                </a:solidFill>
              </a:rPr>
            </a:br>
            <a:r>
              <a:rPr dirty="0">
                <a:solidFill>
                  <a:srgbClr val="FF0000"/>
                </a:solidFill>
              </a:rPr>
              <a:t>• Delayed expert consultation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3291840"/>
            <a:ext cx="3657600" cy="2011680"/>
          </a:xfrm>
          <a:prstGeom prst="rect">
            <a:avLst/>
          </a:prstGeom>
          <a:solidFill>
            <a:srgbClr val="C8FFFF"/>
          </a:solidFill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rPr dirty="0" err="1">
                <a:solidFill>
                  <a:srgbClr val="FF0000"/>
                </a:solidFill>
              </a:rPr>
              <a:t>Behaviour</a:t>
            </a:r>
            <a:r>
              <a:rPr dirty="0">
                <a:solidFill>
                  <a:srgbClr val="FF0000"/>
                </a:solidFill>
              </a:rPr>
              <a:t> (Online / Offline)</a:t>
            </a:r>
          </a:p>
          <a:p>
            <a:pPr>
              <a:defRPr sz="1200"/>
            </a:pPr>
            <a:r>
              <a:rPr dirty="0">
                <a:solidFill>
                  <a:srgbClr val="FF0000"/>
                </a:solidFill>
              </a:rPr>
              <a:t>Online:</a:t>
            </a:r>
            <a:br>
              <a:rPr dirty="0">
                <a:solidFill>
                  <a:srgbClr val="FF0000"/>
                </a:solidFill>
              </a:rPr>
            </a:br>
            <a:r>
              <a:rPr dirty="0">
                <a:solidFill>
                  <a:srgbClr val="FF0000"/>
                </a:solidFill>
              </a:rPr>
              <a:t>• Search on Google/YouTube</a:t>
            </a:r>
            <a:br>
              <a:rPr dirty="0">
                <a:solidFill>
                  <a:srgbClr val="FF0000"/>
                </a:solidFill>
              </a:rPr>
            </a:br>
            <a:r>
              <a:rPr dirty="0">
                <a:solidFill>
                  <a:srgbClr val="FF0000"/>
                </a:solidFill>
              </a:rPr>
              <a:t>• Use farming forums</a:t>
            </a:r>
            <a:br>
              <a:rPr dirty="0">
                <a:solidFill>
                  <a:srgbClr val="FF0000"/>
                </a:solidFill>
              </a:rPr>
            </a:br>
            <a:r>
              <a:rPr dirty="0">
                <a:solidFill>
                  <a:srgbClr val="FF0000"/>
                </a:solidFill>
              </a:rPr>
              <a:t>Offline:</a:t>
            </a:r>
            <a:br>
              <a:rPr dirty="0">
                <a:solidFill>
                  <a:srgbClr val="FF0000"/>
                </a:solidFill>
              </a:rPr>
            </a:br>
            <a:r>
              <a:rPr dirty="0">
                <a:solidFill>
                  <a:srgbClr val="FF0000"/>
                </a:solidFill>
              </a:rPr>
              <a:t>• Ask local farmers</a:t>
            </a:r>
            <a:br>
              <a:rPr dirty="0">
                <a:solidFill>
                  <a:srgbClr val="FF0000"/>
                </a:solidFill>
              </a:rPr>
            </a:br>
            <a:r>
              <a:rPr dirty="0">
                <a:solidFill>
                  <a:srgbClr val="FF0000"/>
                </a:solidFill>
              </a:rPr>
              <a:t>• Visit agricultural stores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486400"/>
            <a:ext cx="3657600" cy="2011680"/>
          </a:xfrm>
          <a:prstGeom prst="rect">
            <a:avLst/>
          </a:prstGeom>
          <a:solidFill>
            <a:srgbClr val="F0DCFF"/>
          </a:solidFill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rPr dirty="0">
                <a:solidFill>
                  <a:srgbClr val="FF0000"/>
                </a:solidFill>
              </a:rPr>
              <a:t>Triggers</a:t>
            </a:r>
          </a:p>
          <a:p>
            <a:pPr>
              <a:defRPr sz="1200"/>
            </a:pPr>
            <a:r>
              <a:rPr dirty="0">
                <a:solidFill>
                  <a:srgbClr val="FF0000"/>
                </a:solidFill>
              </a:rPr>
              <a:t>• Spots on leaves</a:t>
            </a:r>
            <a:br>
              <a:rPr dirty="0">
                <a:solidFill>
                  <a:srgbClr val="FF0000"/>
                </a:solidFill>
              </a:rPr>
            </a:br>
            <a:r>
              <a:rPr dirty="0">
                <a:solidFill>
                  <a:srgbClr val="FF0000"/>
                </a:solidFill>
              </a:rPr>
              <a:t>• Yellowing or wilting plants</a:t>
            </a:r>
            <a:br>
              <a:rPr dirty="0">
                <a:solidFill>
                  <a:srgbClr val="FF0000"/>
                </a:solidFill>
              </a:rPr>
            </a:br>
            <a:r>
              <a:rPr dirty="0">
                <a:solidFill>
                  <a:srgbClr val="FF0000"/>
                </a:solidFill>
              </a:rPr>
              <a:t>• Reduced crop growth</a:t>
            </a:r>
            <a:br>
              <a:rPr dirty="0">
                <a:solidFill>
                  <a:srgbClr val="FF0000"/>
                </a:solidFill>
              </a:rPr>
            </a:br>
            <a:r>
              <a:rPr dirty="0">
                <a:solidFill>
                  <a:srgbClr val="FF0000"/>
                </a:solidFill>
              </a:rPr>
              <a:t>• Sudden spread of disease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5486400"/>
            <a:ext cx="3657600" cy="2011680"/>
          </a:xfrm>
          <a:prstGeom prst="rect">
            <a:avLst/>
          </a:prstGeom>
          <a:solidFill>
            <a:srgbClr val="FFF0C8"/>
          </a:solidFill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rPr dirty="0">
                <a:solidFill>
                  <a:srgbClr val="FF0000"/>
                </a:solidFill>
              </a:rPr>
              <a:t>Emotions (Before / After)</a:t>
            </a:r>
          </a:p>
          <a:p>
            <a:pPr>
              <a:defRPr sz="1200"/>
            </a:pPr>
            <a:r>
              <a:rPr dirty="0">
                <a:solidFill>
                  <a:srgbClr val="FF0000"/>
                </a:solidFill>
              </a:rPr>
              <a:t>Before:</a:t>
            </a:r>
            <a:br>
              <a:rPr dirty="0">
                <a:solidFill>
                  <a:srgbClr val="FF0000"/>
                </a:solidFill>
              </a:rPr>
            </a:br>
            <a:r>
              <a:rPr dirty="0">
                <a:solidFill>
                  <a:srgbClr val="FF0000"/>
                </a:solidFill>
              </a:rPr>
              <a:t>• Confusion</a:t>
            </a:r>
            <a:br>
              <a:rPr dirty="0">
                <a:solidFill>
                  <a:srgbClr val="FF0000"/>
                </a:solidFill>
              </a:rPr>
            </a:br>
            <a:r>
              <a:rPr dirty="0">
                <a:solidFill>
                  <a:srgbClr val="FF0000"/>
                </a:solidFill>
              </a:rPr>
              <a:t>• Stress about crop loss</a:t>
            </a:r>
            <a:br>
              <a:rPr dirty="0">
                <a:solidFill>
                  <a:srgbClr val="FF0000"/>
                </a:solidFill>
              </a:rPr>
            </a:br>
            <a:r>
              <a:rPr dirty="0">
                <a:solidFill>
                  <a:srgbClr val="FF0000"/>
                </a:solidFill>
              </a:rPr>
              <a:t>After:</a:t>
            </a:r>
            <a:br>
              <a:rPr dirty="0">
                <a:solidFill>
                  <a:srgbClr val="FF0000"/>
                </a:solidFill>
              </a:rPr>
            </a:br>
            <a:r>
              <a:rPr dirty="0">
                <a:solidFill>
                  <a:srgbClr val="FF0000"/>
                </a:solidFill>
              </a:rPr>
              <a:t>• Confidence</a:t>
            </a:r>
            <a:br>
              <a:rPr dirty="0">
                <a:solidFill>
                  <a:srgbClr val="FF0000"/>
                </a:solidFill>
              </a:rPr>
            </a:br>
            <a:r>
              <a:rPr dirty="0">
                <a:solidFill>
                  <a:srgbClr val="FF0000"/>
                </a:solidFill>
              </a:rPr>
              <a:t>• Relief</a:t>
            </a:r>
            <a:br>
              <a:rPr dirty="0">
                <a:solidFill>
                  <a:srgbClr val="FF0000"/>
                </a:solidFill>
              </a:rPr>
            </a:br>
            <a:r>
              <a:rPr dirty="0">
                <a:solidFill>
                  <a:srgbClr val="FF0000"/>
                </a:solidFill>
              </a:rPr>
              <a:t>• Better crop management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5486400"/>
            <a:ext cx="3657600" cy="2011680"/>
          </a:xfrm>
          <a:prstGeom prst="rect">
            <a:avLst/>
          </a:prstGeom>
          <a:solidFill>
            <a:srgbClr val="C8FFDC"/>
          </a:solidFill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rPr dirty="0">
                <a:solidFill>
                  <a:srgbClr val="FF0000"/>
                </a:solidFill>
              </a:rPr>
              <a:t>Your Solution – </a:t>
            </a:r>
            <a:r>
              <a:rPr dirty="0" err="1">
                <a:solidFill>
                  <a:srgbClr val="FF0000"/>
                </a:solidFill>
              </a:rPr>
              <a:t>PlantCare</a:t>
            </a:r>
            <a:r>
              <a:rPr dirty="0">
                <a:solidFill>
                  <a:srgbClr val="FF0000"/>
                </a:solidFill>
              </a:rPr>
              <a:t> AI</a:t>
            </a:r>
          </a:p>
          <a:p>
            <a:pPr>
              <a:defRPr sz="1200"/>
            </a:pPr>
            <a:r>
              <a:rPr dirty="0">
                <a:solidFill>
                  <a:srgbClr val="FF0000"/>
                </a:solidFill>
              </a:rPr>
              <a:t>• Mobile/web app</a:t>
            </a:r>
            <a:br>
              <a:rPr dirty="0">
                <a:solidFill>
                  <a:srgbClr val="FF0000"/>
                </a:solidFill>
              </a:rPr>
            </a:br>
            <a:r>
              <a:rPr dirty="0">
                <a:solidFill>
                  <a:srgbClr val="FF0000"/>
                </a:solidFill>
              </a:rPr>
              <a:t>• Upload plant leaf image</a:t>
            </a:r>
            <a:br>
              <a:rPr dirty="0">
                <a:solidFill>
                  <a:srgbClr val="FF0000"/>
                </a:solidFill>
              </a:rPr>
            </a:br>
            <a:r>
              <a:rPr dirty="0">
                <a:solidFill>
                  <a:srgbClr val="FF0000"/>
                </a:solidFill>
              </a:rPr>
              <a:t>• AI detects disease using transfer learning</a:t>
            </a:r>
            <a:br>
              <a:rPr dirty="0">
                <a:solidFill>
                  <a:srgbClr val="FF0000"/>
                </a:solidFill>
              </a:rPr>
            </a:br>
            <a:r>
              <a:rPr dirty="0">
                <a:solidFill>
                  <a:srgbClr val="FF0000"/>
                </a:solidFill>
              </a:rPr>
              <a:t>• Instant diagnosis</a:t>
            </a:r>
            <a:br>
              <a:rPr dirty="0">
                <a:solidFill>
                  <a:srgbClr val="FF0000"/>
                </a:solidFill>
              </a:rPr>
            </a:br>
            <a:r>
              <a:rPr dirty="0">
                <a:solidFill>
                  <a:srgbClr val="FF0000"/>
                </a:solidFill>
              </a:rPr>
              <a:t>• Treatment suggestions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75</Words>
  <Application>Microsoft Office PowerPoint</Application>
  <PresentationFormat>On-screen Show (4:3)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dell</cp:lastModifiedBy>
  <cp:revision>2</cp:revision>
  <dcterms:created xsi:type="dcterms:W3CDTF">2013-01-27T09:14:16Z</dcterms:created>
  <dcterms:modified xsi:type="dcterms:W3CDTF">2026-03-07T14:42:01Z</dcterms:modified>
  <cp:category/>
</cp:coreProperties>
</file>